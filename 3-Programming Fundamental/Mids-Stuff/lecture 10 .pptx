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80" r:id="rId20"/>
    <p:sldId id="267" r:id="rId21"/>
    <p:sldId id="279" r:id="rId22"/>
    <p:sldId id="278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3" d="100"/>
          <a:sy n="93" d="100"/>
        </p:scale>
        <p:origin x="-29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1192" y="2355232"/>
            <a:ext cx="10704830" cy="4110990"/>
            <a:chOff x="662940" y="1819655"/>
            <a:chExt cx="10704830" cy="4110990"/>
          </a:xfrm>
        </p:grpSpPr>
        <p:sp>
          <p:nvSpPr>
            <p:cNvPr id="3" name="object 3"/>
            <p:cNvSpPr/>
            <p:nvPr/>
          </p:nvSpPr>
          <p:spPr>
            <a:xfrm>
              <a:off x="838962" y="1864613"/>
              <a:ext cx="10515600" cy="1320165"/>
            </a:xfrm>
            <a:custGeom>
              <a:avLst/>
              <a:gdLst/>
              <a:ahLst/>
              <a:cxnLst/>
              <a:rect l="l" t="t" r="r" b="b"/>
              <a:pathLst>
                <a:path w="10515600" h="1320164">
                  <a:moveTo>
                    <a:pt x="10295636" y="0"/>
                  </a:moveTo>
                  <a:lnTo>
                    <a:pt x="219976" y="0"/>
                  </a:lnTo>
                  <a:lnTo>
                    <a:pt x="175644" y="4466"/>
                  </a:lnTo>
                  <a:lnTo>
                    <a:pt x="134352" y="17277"/>
                  </a:lnTo>
                  <a:lnTo>
                    <a:pt x="96986" y="37551"/>
                  </a:lnTo>
                  <a:lnTo>
                    <a:pt x="64430" y="64404"/>
                  </a:lnTo>
                  <a:lnTo>
                    <a:pt x="37568" y="96955"/>
                  </a:lnTo>
                  <a:lnTo>
                    <a:pt x="17287" y="134320"/>
                  </a:lnTo>
                  <a:lnTo>
                    <a:pt x="4469" y="175617"/>
                  </a:lnTo>
                  <a:lnTo>
                    <a:pt x="0" y="219963"/>
                  </a:lnTo>
                  <a:lnTo>
                    <a:pt x="0" y="1099820"/>
                  </a:lnTo>
                  <a:lnTo>
                    <a:pt x="4469" y="1144166"/>
                  </a:lnTo>
                  <a:lnTo>
                    <a:pt x="17287" y="1185463"/>
                  </a:lnTo>
                  <a:lnTo>
                    <a:pt x="37568" y="1222828"/>
                  </a:lnTo>
                  <a:lnTo>
                    <a:pt x="64430" y="1255379"/>
                  </a:lnTo>
                  <a:lnTo>
                    <a:pt x="96986" y="1282232"/>
                  </a:lnTo>
                  <a:lnTo>
                    <a:pt x="134352" y="1302506"/>
                  </a:lnTo>
                  <a:lnTo>
                    <a:pt x="175644" y="1315317"/>
                  </a:lnTo>
                  <a:lnTo>
                    <a:pt x="219976" y="1319784"/>
                  </a:lnTo>
                  <a:lnTo>
                    <a:pt x="10295636" y="1319784"/>
                  </a:lnTo>
                  <a:lnTo>
                    <a:pt x="10339982" y="1315317"/>
                  </a:lnTo>
                  <a:lnTo>
                    <a:pt x="10381279" y="1302506"/>
                  </a:lnTo>
                  <a:lnTo>
                    <a:pt x="10418644" y="1282232"/>
                  </a:lnTo>
                  <a:lnTo>
                    <a:pt x="10451195" y="1255379"/>
                  </a:lnTo>
                  <a:lnTo>
                    <a:pt x="10478048" y="1222828"/>
                  </a:lnTo>
                  <a:lnTo>
                    <a:pt x="10498322" y="1185463"/>
                  </a:lnTo>
                  <a:lnTo>
                    <a:pt x="10511133" y="1144166"/>
                  </a:lnTo>
                  <a:lnTo>
                    <a:pt x="10515600" y="1099820"/>
                  </a:lnTo>
                  <a:lnTo>
                    <a:pt x="10515600" y="219963"/>
                  </a:lnTo>
                  <a:lnTo>
                    <a:pt x="10511133" y="175617"/>
                  </a:lnTo>
                  <a:lnTo>
                    <a:pt x="10498322" y="134320"/>
                  </a:lnTo>
                  <a:lnTo>
                    <a:pt x="10478048" y="96955"/>
                  </a:lnTo>
                  <a:lnTo>
                    <a:pt x="10451195" y="64404"/>
                  </a:lnTo>
                  <a:lnTo>
                    <a:pt x="10418644" y="37551"/>
                  </a:lnTo>
                  <a:lnTo>
                    <a:pt x="10381279" y="17277"/>
                  </a:lnTo>
                  <a:lnTo>
                    <a:pt x="10339982" y="4466"/>
                  </a:lnTo>
                  <a:lnTo>
                    <a:pt x="10295636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" y="1819655"/>
              <a:ext cx="3262122" cy="15552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962" y="3188969"/>
              <a:ext cx="10515600" cy="1320165"/>
            </a:xfrm>
            <a:custGeom>
              <a:avLst/>
              <a:gdLst/>
              <a:ahLst/>
              <a:cxnLst/>
              <a:rect l="l" t="t" r="r" b="b"/>
              <a:pathLst>
                <a:path w="10515600" h="1320164">
                  <a:moveTo>
                    <a:pt x="10295636" y="0"/>
                  </a:moveTo>
                  <a:lnTo>
                    <a:pt x="219976" y="0"/>
                  </a:lnTo>
                  <a:lnTo>
                    <a:pt x="175644" y="4466"/>
                  </a:lnTo>
                  <a:lnTo>
                    <a:pt x="134352" y="17277"/>
                  </a:lnTo>
                  <a:lnTo>
                    <a:pt x="96986" y="37551"/>
                  </a:lnTo>
                  <a:lnTo>
                    <a:pt x="64430" y="64404"/>
                  </a:lnTo>
                  <a:lnTo>
                    <a:pt x="37568" y="96955"/>
                  </a:lnTo>
                  <a:lnTo>
                    <a:pt x="17287" y="134320"/>
                  </a:lnTo>
                  <a:lnTo>
                    <a:pt x="4469" y="175617"/>
                  </a:lnTo>
                  <a:lnTo>
                    <a:pt x="0" y="219963"/>
                  </a:lnTo>
                  <a:lnTo>
                    <a:pt x="0" y="1099819"/>
                  </a:lnTo>
                  <a:lnTo>
                    <a:pt x="4469" y="1144166"/>
                  </a:lnTo>
                  <a:lnTo>
                    <a:pt x="17287" y="1185463"/>
                  </a:lnTo>
                  <a:lnTo>
                    <a:pt x="37568" y="1222828"/>
                  </a:lnTo>
                  <a:lnTo>
                    <a:pt x="64430" y="1255379"/>
                  </a:lnTo>
                  <a:lnTo>
                    <a:pt x="96986" y="1282232"/>
                  </a:lnTo>
                  <a:lnTo>
                    <a:pt x="134352" y="1302506"/>
                  </a:lnTo>
                  <a:lnTo>
                    <a:pt x="175644" y="1315317"/>
                  </a:lnTo>
                  <a:lnTo>
                    <a:pt x="219976" y="1319783"/>
                  </a:lnTo>
                  <a:lnTo>
                    <a:pt x="10295636" y="1319783"/>
                  </a:lnTo>
                  <a:lnTo>
                    <a:pt x="10339982" y="1315317"/>
                  </a:lnTo>
                  <a:lnTo>
                    <a:pt x="10381279" y="1302506"/>
                  </a:lnTo>
                  <a:lnTo>
                    <a:pt x="10418644" y="1282232"/>
                  </a:lnTo>
                  <a:lnTo>
                    <a:pt x="10451195" y="1255379"/>
                  </a:lnTo>
                  <a:lnTo>
                    <a:pt x="10478048" y="1222828"/>
                  </a:lnTo>
                  <a:lnTo>
                    <a:pt x="10498322" y="1185463"/>
                  </a:lnTo>
                  <a:lnTo>
                    <a:pt x="10511133" y="1144166"/>
                  </a:lnTo>
                  <a:lnTo>
                    <a:pt x="10515600" y="1099819"/>
                  </a:lnTo>
                  <a:lnTo>
                    <a:pt x="10515600" y="219963"/>
                  </a:lnTo>
                  <a:lnTo>
                    <a:pt x="10511133" y="175617"/>
                  </a:lnTo>
                  <a:lnTo>
                    <a:pt x="10498322" y="134320"/>
                  </a:lnTo>
                  <a:lnTo>
                    <a:pt x="10478048" y="96955"/>
                  </a:lnTo>
                  <a:lnTo>
                    <a:pt x="10451195" y="64404"/>
                  </a:lnTo>
                  <a:lnTo>
                    <a:pt x="10418644" y="37551"/>
                  </a:lnTo>
                  <a:lnTo>
                    <a:pt x="10381279" y="17277"/>
                  </a:lnTo>
                  <a:lnTo>
                    <a:pt x="10339982" y="4466"/>
                  </a:lnTo>
                  <a:lnTo>
                    <a:pt x="10295636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962" y="3188969"/>
              <a:ext cx="10515600" cy="1320165"/>
            </a:xfrm>
            <a:custGeom>
              <a:avLst/>
              <a:gdLst/>
              <a:ahLst/>
              <a:cxnLst/>
              <a:rect l="l" t="t" r="r" b="b"/>
              <a:pathLst>
                <a:path w="10515600" h="1320164">
                  <a:moveTo>
                    <a:pt x="0" y="219963"/>
                  </a:moveTo>
                  <a:lnTo>
                    <a:pt x="4469" y="175617"/>
                  </a:lnTo>
                  <a:lnTo>
                    <a:pt x="17287" y="134320"/>
                  </a:lnTo>
                  <a:lnTo>
                    <a:pt x="37568" y="96955"/>
                  </a:lnTo>
                  <a:lnTo>
                    <a:pt x="64430" y="64404"/>
                  </a:lnTo>
                  <a:lnTo>
                    <a:pt x="96986" y="37551"/>
                  </a:lnTo>
                  <a:lnTo>
                    <a:pt x="134352" y="17277"/>
                  </a:lnTo>
                  <a:lnTo>
                    <a:pt x="175644" y="4466"/>
                  </a:lnTo>
                  <a:lnTo>
                    <a:pt x="219976" y="0"/>
                  </a:lnTo>
                  <a:lnTo>
                    <a:pt x="10295636" y="0"/>
                  </a:lnTo>
                  <a:lnTo>
                    <a:pt x="10339982" y="4466"/>
                  </a:lnTo>
                  <a:lnTo>
                    <a:pt x="10381279" y="17277"/>
                  </a:lnTo>
                  <a:lnTo>
                    <a:pt x="10418644" y="37551"/>
                  </a:lnTo>
                  <a:lnTo>
                    <a:pt x="10451195" y="64404"/>
                  </a:lnTo>
                  <a:lnTo>
                    <a:pt x="10478048" y="96955"/>
                  </a:lnTo>
                  <a:lnTo>
                    <a:pt x="10498322" y="134320"/>
                  </a:lnTo>
                  <a:lnTo>
                    <a:pt x="10511133" y="175617"/>
                  </a:lnTo>
                  <a:lnTo>
                    <a:pt x="10515600" y="219963"/>
                  </a:lnTo>
                  <a:lnTo>
                    <a:pt x="10515600" y="1099819"/>
                  </a:lnTo>
                  <a:lnTo>
                    <a:pt x="10511133" y="1144166"/>
                  </a:lnTo>
                  <a:lnTo>
                    <a:pt x="10498322" y="1185463"/>
                  </a:lnTo>
                  <a:lnTo>
                    <a:pt x="10478048" y="1222828"/>
                  </a:lnTo>
                  <a:lnTo>
                    <a:pt x="10451195" y="1255379"/>
                  </a:lnTo>
                  <a:lnTo>
                    <a:pt x="10418644" y="1282232"/>
                  </a:lnTo>
                  <a:lnTo>
                    <a:pt x="10381279" y="1302506"/>
                  </a:lnTo>
                  <a:lnTo>
                    <a:pt x="10339982" y="1315317"/>
                  </a:lnTo>
                  <a:lnTo>
                    <a:pt x="10295636" y="1319783"/>
                  </a:lnTo>
                  <a:lnTo>
                    <a:pt x="219976" y="1319783"/>
                  </a:lnTo>
                  <a:lnTo>
                    <a:pt x="175644" y="1315317"/>
                  </a:lnTo>
                  <a:lnTo>
                    <a:pt x="134352" y="1302506"/>
                  </a:lnTo>
                  <a:lnTo>
                    <a:pt x="96986" y="1282232"/>
                  </a:lnTo>
                  <a:lnTo>
                    <a:pt x="64430" y="1255379"/>
                  </a:lnTo>
                  <a:lnTo>
                    <a:pt x="37568" y="1222828"/>
                  </a:lnTo>
                  <a:lnTo>
                    <a:pt x="17287" y="1185463"/>
                  </a:lnTo>
                  <a:lnTo>
                    <a:pt x="4469" y="1144166"/>
                  </a:lnTo>
                  <a:lnTo>
                    <a:pt x="0" y="1099819"/>
                  </a:lnTo>
                  <a:lnTo>
                    <a:pt x="0" y="21996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" y="3144011"/>
              <a:ext cx="3996690" cy="15552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38962" y="4420361"/>
              <a:ext cx="10515600" cy="1320165"/>
            </a:xfrm>
            <a:custGeom>
              <a:avLst/>
              <a:gdLst/>
              <a:ahLst/>
              <a:cxnLst/>
              <a:rect l="l" t="t" r="r" b="b"/>
              <a:pathLst>
                <a:path w="10515600" h="1320164">
                  <a:moveTo>
                    <a:pt x="10295636" y="0"/>
                  </a:moveTo>
                  <a:lnTo>
                    <a:pt x="219976" y="0"/>
                  </a:lnTo>
                  <a:lnTo>
                    <a:pt x="175644" y="4466"/>
                  </a:lnTo>
                  <a:lnTo>
                    <a:pt x="134352" y="17277"/>
                  </a:lnTo>
                  <a:lnTo>
                    <a:pt x="96986" y="37551"/>
                  </a:lnTo>
                  <a:lnTo>
                    <a:pt x="64430" y="64404"/>
                  </a:lnTo>
                  <a:lnTo>
                    <a:pt x="37568" y="96955"/>
                  </a:lnTo>
                  <a:lnTo>
                    <a:pt x="17287" y="134320"/>
                  </a:lnTo>
                  <a:lnTo>
                    <a:pt x="4469" y="175617"/>
                  </a:lnTo>
                  <a:lnTo>
                    <a:pt x="0" y="219963"/>
                  </a:lnTo>
                  <a:lnTo>
                    <a:pt x="0" y="1099820"/>
                  </a:lnTo>
                  <a:lnTo>
                    <a:pt x="4469" y="1144148"/>
                  </a:lnTo>
                  <a:lnTo>
                    <a:pt x="17287" y="1185436"/>
                  </a:lnTo>
                  <a:lnTo>
                    <a:pt x="37568" y="1222800"/>
                  </a:lnTo>
                  <a:lnTo>
                    <a:pt x="64430" y="1255355"/>
                  </a:lnTo>
                  <a:lnTo>
                    <a:pt x="96986" y="1282215"/>
                  </a:lnTo>
                  <a:lnTo>
                    <a:pt x="134352" y="1302497"/>
                  </a:lnTo>
                  <a:lnTo>
                    <a:pt x="175644" y="1315314"/>
                  </a:lnTo>
                  <a:lnTo>
                    <a:pt x="219976" y="1319784"/>
                  </a:lnTo>
                  <a:lnTo>
                    <a:pt x="10295636" y="1319784"/>
                  </a:lnTo>
                  <a:lnTo>
                    <a:pt x="10339982" y="1315314"/>
                  </a:lnTo>
                  <a:lnTo>
                    <a:pt x="10381279" y="1302497"/>
                  </a:lnTo>
                  <a:lnTo>
                    <a:pt x="10418644" y="1282215"/>
                  </a:lnTo>
                  <a:lnTo>
                    <a:pt x="10451195" y="1255355"/>
                  </a:lnTo>
                  <a:lnTo>
                    <a:pt x="10478048" y="1222800"/>
                  </a:lnTo>
                  <a:lnTo>
                    <a:pt x="10498322" y="1185436"/>
                  </a:lnTo>
                  <a:lnTo>
                    <a:pt x="10511133" y="1144148"/>
                  </a:lnTo>
                  <a:lnTo>
                    <a:pt x="10515600" y="1099820"/>
                  </a:lnTo>
                  <a:lnTo>
                    <a:pt x="10515600" y="219963"/>
                  </a:lnTo>
                  <a:lnTo>
                    <a:pt x="10511133" y="175617"/>
                  </a:lnTo>
                  <a:lnTo>
                    <a:pt x="10498322" y="134320"/>
                  </a:lnTo>
                  <a:lnTo>
                    <a:pt x="10478048" y="96955"/>
                  </a:lnTo>
                  <a:lnTo>
                    <a:pt x="10451195" y="64404"/>
                  </a:lnTo>
                  <a:lnTo>
                    <a:pt x="10418644" y="37551"/>
                  </a:lnTo>
                  <a:lnTo>
                    <a:pt x="10381279" y="17277"/>
                  </a:lnTo>
                  <a:lnTo>
                    <a:pt x="10339982" y="4466"/>
                  </a:lnTo>
                  <a:lnTo>
                    <a:pt x="10295636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8962" y="4420361"/>
              <a:ext cx="10515600" cy="1320165"/>
            </a:xfrm>
            <a:custGeom>
              <a:avLst/>
              <a:gdLst/>
              <a:ahLst/>
              <a:cxnLst/>
              <a:rect l="l" t="t" r="r" b="b"/>
              <a:pathLst>
                <a:path w="10515600" h="1320164">
                  <a:moveTo>
                    <a:pt x="0" y="219963"/>
                  </a:moveTo>
                  <a:lnTo>
                    <a:pt x="4469" y="175617"/>
                  </a:lnTo>
                  <a:lnTo>
                    <a:pt x="17287" y="134320"/>
                  </a:lnTo>
                  <a:lnTo>
                    <a:pt x="37568" y="96955"/>
                  </a:lnTo>
                  <a:lnTo>
                    <a:pt x="64430" y="64404"/>
                  </a:lnTo>
                  <a:lnTo>
                    <a:pt x="96986" y="37551"/>
                  </a:lnTo>
                  <a:lnTo>
                    <a:pt x="134352" y="17277"/>
                  </a:lnTo>
                  <a:lnTo>
                    <a:pt x="175644" y="4466"/>
                  </a:lnTo>
                  <a:lnTo>
                    <a:pt x="219976" y="0"/>
                  </a:lnTo>
                  <a:lnTo>
                    <a:pt x="10295636" y="0"/>
                  </a:lnTo>
                  <a:lnTo>
                    <a:pt x="10339982" y="4466"/>
                  </a:lnTo>
                  <a:lnTo>
                    <a:pt x="10381279" y="17277"/>
                  </a:lnTo>
                  <a:lnTo>
                    <a:pt x="10418644" y="37551"/>
                  </a:lnTo>
                  <a:lnTo>
                    <a:pt x="10451195" y="64404"/>
                  </a:lnTo>
                  <a:lnTo>
                    <a:pt x="10478048" y="96955"/>
                  </a:lnTo>
                  <a:lnTo>
                    <a:pt x="10498322" y="134320"/>
                  </a:lnTo>
                  <a:lnTo>
                    <a:pt x="10511133" y="175617"/>
                  </a:lnTo>
                  <a:lnTo>
                    <a:pt x="10515600" y="219963"/>
                  </a:lnTo>
                  <a:lnTo>
                    <a:pt x="10515600" y="1099820"/>
                  </a:lnTo>
                  <a:lnTo>
                    <a:pt x="10511133" y="1144148"/>
                  </a:lnTo>
                  <a:lnTo>
                    <a:pt x="10498322" y="1185436"/>
                  </a:lnTo>
                  <a:lnTo>
                    <a:pt x="10478048" y="1222800"/>
                  </a:lnTo>
                  <a:lnTo>
                    <a:pt x="10451195" y="1255355"/>
                  </a:lnTo>
                  <a:lnTo>
                    <a:pt x="10418644" y="1282215"/>
                  </a:lnTo>
                  <a:lnTo>
                    <a:pt x="10381279" y="1302497"/>
                  </a:lnTo>
                  <a:lnTo>
                    <a:pt x="10339982" y="1315314"/>
                  </a:lnTo>
                  <a:lnTo>
                    <a:pt x="10295636" y="1319784"/>
                  </a:lnTo>
                  <a:lnTo>
                    <a:pt x="219976" y="1319784"/>
                  </a:lnTo>
                  <a:lnTo>
                    <a:pt x="175644" y="1315314"/>
                  </a:lnTo>
                  <a:lnTo>
                    <a:pt x="134352" y="1302497"/>
                  </a:lnTo>
                  <a:lnTo>
                    <a:pt x="96986" y="1282215"/>
                  </a:lnTo>
                  <a:lnTo>
                    <a:pt x="64430" y="1255355"/>
                  </a:lnTo>
                  <a:lnTo>
                    <a:pt x="37568" y="1222800"/>
                  </a:lnTo>
                  <a:lnTo>
                    <a:pt x="17287" y="1185436"/>
                  </a:lnTo>
                  <a:lnTo>
                    <a:pt x="4469" y="1144148"/>
                  </a:lnTo>
                  <a:lnTo>
                    <a:pt x="0" y="1099820"/>
                  </a:lnTo>
                  <a:lnTo>
                    <a:pt x="0" y="219963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40" y="4373879"/>
              <a:ext cx="4952238" cy="155676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9695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Lecture</a:t>
            </a:r>
            <a:r>
              <a:rPr sz="6000" b="1" spc="-280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Outline</a:t>
            </a:r>
            <a:endParaRPr sz="6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895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524" y="1840610"/>
            <a:ext cx="10240645" cy="14497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can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be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used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1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tell</a:t>
            </a:r>
            <a:r>
              <a:rPr sz="2800" i="1" spc="-10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program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114" dirty="0">
                <a:latin typeface="Calibri"/>
                <a:cs typeface="Calibri"/>
              </a:rPr>
              <a:t> </a:t>
            </a:r>
            <a:r>
              <a:rPr sz="2800" i="1" spc="-45" dirty="0">
                <a:latin typeface="Calibri"/>
                <a:cs typeface="Calibri"/>
              </a:rPr>
              <a:t>execute</a:t>
            </a:r>
            <a:r>
              <a:rPr sz="2800" i="1" spc="-114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statements</a:t>
            </a:r>
            <a:r>
              <a:rPr sz="2800" i="1" spc="8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repeatedly</a:t>
            </a:r>
            <a:endParaRPr sz="2800" dirty="0">
              <a:latin typeface="Calibri"/>
              <a:cs typeface="Calibri"/>
            </a:endParaRPr>
          </a:p>
          <a:p>
            <a:pPr marL="240029" marR="404495" indent="-227329">
              <a:lnSpc>
                <a:spcPts val="3000"/>
              </a:lnSpc>
              <a:spcBef>
                <a:spcPts val="11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display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"Welcome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C++!") 	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35" y="5222544"/>
            <a:ext cx="4884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problem???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4535" y="3290315"/>
            <a:ext cx="3258312" cy="86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8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While</a:t>
            </a:r>
            <a:r>
              <a:rPr spc="-8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590" y="2142566"/>
            <a:ext cx="10370820" cy="42900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C++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3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powerful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construct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3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loop</a:t>
            </a:r>
            <a:r>
              <a:rPr sz="2600" i="1" spc="3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controls</a:t>
            </a:r>
            <a:r>
              <a:rPr sz="2600" spc="3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many </a:t>
            </a:r>
            <a:r>
              <a:rPr sz="2600" dirty="0">
                <a:latin typeface="Calibri"/>
                <a:cs typeface="Calibri"/>
              </a:rPr>
              <a:t>times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performed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succession.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loop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statement, </a:t>
            </a:r>
            <a:r>
              <a:rPr sz="2600" dirty="0">
                <a:latin typeface="Calibri"/>
                <a:cs typeface="Calibri"/>
              </a:rPr>
              <a:t>you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tell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display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100 </a:t>
            </a:r>
            <a:r>
              <a:rPr sz="2600" dirty="0">
                <a:latin typeface="Calibri"/>
                <a:cs typeface="Calibri"/>
              </a:rPr>
              <a:t>times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without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having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statement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100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follows:</a:t>
            </a:r>
            <a:endParaRPr sz="26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1900" dirty="0">
                <a:latin typeface="Calibri"/>
                <a:cs typeface="Calibri"/>
              </a:rPr>
              <a:t>int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count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0;</a:t>
            </a:r>
            <a:endParaRPr sz="19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1900" dirty="0">
                <a:latin typeface="Calibri"/>
                <a:cs typeface="Calibri"/>
              </a:rPr>
              <a:t>while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(count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&lt;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100)</a:t>
            </a:r>
            <a:endParaRPr sz="19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1900" spc="-50" dirty="0">
                <a:latin typeface="Calibri"/>
                <a:cs typeface="Calibri"/>
              </a:rPr>
              <a:t>{</a:t>
            </a:r>
            <a:endParaRPr sz="1900" dirty="0">
              <a:latin typeface="Calibri"/>
              <a:cs typeface="Calibri"/>
            </a:endParaRPr>
          </a:p>
          <a:p>
            <a:pPr marL="927100" marR="6521450">
              <a:lnSpc>
                <a:spcPts val="26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cout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&lt;&lt;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"Welcome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C++!\n"; count++;</a:t>
            </a:r>
            <a:endParaRPr sz="19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1900" spc="-50" dirty="0">
                <a:latin typeface="Calibri"/>
                <a:cs typeface="Calibri"/>
              </a:rPr>
              <a:t>}</a:t>
            </a:r>
            <a:endParaRPr sz="1900" dirty="0">
              <a:latin typeface="Calibri"/>
              <a:cs typeface="Calibri"/>
            </a:endParaRPr>
          </a:p>
          <a:p>
            <a:pPr marL="241300" marR="429895" indent="-228600">
              <a:lnSpc>
                <a:spcPts val="28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Note: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braces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enclosing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loop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body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omitted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loop </a:t>
            </a:r>
            <a:r>
              <a:rPr sz="2600" dirty="0">
                <a:latin typeface="Calibri"/>
                <a:cs typeface="Calibri"/>
              </a:rPr>
              <a:t>body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contains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30" dirty="0">
                <a:latin typeface="Calibri"/>
                <a:cs typeface="Calibri"/>
              </a:rPr>
              <a:t> statement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none.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94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While</a:t>
            </a:r>
            <a:r>
              <a:rPr spc="-8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272" y="2246702"/>
            <a:ext cx="10371455" cy="40614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 algn="just">
              <a:lnSpc>
                <a:spcPct val="912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initially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whether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(count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&lt; 	</a:t>
            </a:r>
            <a:r>
              <a:rPr sz="2800" dirty="0">
                <a:latin typeface="Calibri"/>
                <a:cs typeface="Calibri"/>
              </a:rPr>
              <a:t>100)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true.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so,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executes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body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 	</a:t>
            </a:r>
            <a:r>
              <a:rPr sz="2800" dirty="0">
                <a:latin typeface="Calibri"/>
                <a:cs typeface="Calibri"/>
              </a:rPr>
              <a:t>Welcome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C++!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increments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1.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repeatedly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executes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body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until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(count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100)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false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 	</a:t>
            </a:r>
            <a:r>
              <a:rPr sz="2800" dirty="0">
                <a:latin typeface="Calibri"/>
                <a:cs typeface="Calibri"/>
              </a:rPr>
              <a:t>reaches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100).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38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point,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terminates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next 	</a:t>
            </a:r>
            <a:r>
              <a:rPr sz="2800" spc="-40" dirty="0">
                <a:latin typeface="Calibri"/>
                <a:cs typeface="Calibri"/>
              </a:rPr>
              <a:t>statement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statement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executed</a:t>
            </a:r>
            <a:endParaRPr sz="2800" dirty="0">
              <a:latin typeface="Calibri"/>
              <a:cs typeface="Calibri"/>
            </a:endParaRPr>
          </a:p>
          <a:p>
            <a:pPr marL="240029" marR="8255" indent="-227329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Loops</a:t>
            </a:r>
            <a:r>
              <a:rPr sz="2800" i="1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repeated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executions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statements.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looping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fundamental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programming. 	</a:t>
            </a:r>
            <a:r>
              <a:rPr sz="2800" dirty="0">
                <a:latin typeface="Calibri"/>
                <a:cs typeface="Calibri"/>
              </a:rPr>
              <a:t>C++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statements: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loops,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do-</a:t>
            </a:r>
            <a:r>
              <a:rPr sz="2800" spc="-10" dirty="0">
                <a:latin typeface="Calibri"/>
                <a:cs typeface="Calibri"/>
              </a:rPr>
              <a:t>while 	</a:t>
            </a:r>
            <a:r>
              <a:rPr sz="2800" dirty="0">
                <a:latin typeface="Calibri"/>
                <a:cs typeface="Calibri"/>
              </a:rPr>
              <a:t>loops,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loops.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65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Flow</a:t>
            </a:r>
            <a:r>
              <a:rPr spc="-100" dirty="0"/>
              <a:t> </a:t>
            </a:r>
            <a:r>
              <a:rPr dirty="0"/>
              <a:t>Chart</a:t>
            </a:r>
            <a:r>
              <a:rPr spc="-120" dirty="0"/>
              <a:t> </a:t>
            </a:r>
            <a:r>
              <a:rPr dirty="0"/>
              <a:t>for</a:t>
            </a:r>
            <a:r>
              <a:rPr spc="-160" dirty="0"/>
              <a:t> </a:t>
            </a:r>
            <a:r>
              <a:rPr dirty="0"/>
              <a:t>while</a:t>
            </a:r>
            <a:r>
              <a:rPr spc="-70" dirty="0"/>
              <a:t> </a:t>
            </a:r>
            <a:r>
              <a:rPr spc="-20" dirty="0"/>
              <a:t>Loop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8504" y="2478895"/>
            <a:ext cx="2971800" cy="38221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810" y="2478895"/>
            <a:ext cx="3084576" cy="382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4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While</a:t>
            </a:r>
            <a:r>
              <a:rPr spc="-22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0509" y="4119953"/>
            <a:ext cx="10001250" cy="22263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5080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program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Variable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initially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incremented</a:t>
            </a:r>
            <a:endParaRPr sz="2800" dirty="0">
              <a:latin typeface="Calibri"/>
              <a:cs typeface="Calibri"/>
            </a:endParaRPr>
          </a:p>
          <a:p>
            <a:pPr marL="240029" marR="342900" indent="-227329">
              <a:lnSpc>
                <a:spcPts val="3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false,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exits. 	Therefore,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...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45.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3708" y="2080516"/>
            <a:ext cx="4369308" cy="16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1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Identify</a:t>
            </a:r>
            <a:r>
              <a:rPr spc="-7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problem?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470" y="2611917"/>
            <a:ext cx="5285232" cy="16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7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Controlling</a:t>
            </a:r>
            <a:r>
              <a:rPr spc="-10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Loop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Sentinel</a:t>
            </a:r>
            <a:r>
              <a:rPr spc="-85" dirty="0"/>
              <a:t> </a:t>
            </a:r>
            <a:r>
              <a:rPr spc="-10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225" y="1897760"/>
            <a:ext cx="10369550" cy="25050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controlling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designate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10" dirty="0">
                <a:latin typeface="Calibri"/>
                <a:cs typeface="Calibri"/>
              </a:rPr>
              <a:t> special 	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value,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sentinel</a:t>
            </a:r>
            <a:r>
              <a:rPr sz="2800" i="1" spc="114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value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signifies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input. 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sentinel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execution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i="1" spc="-30" dirty="0">
                <a:latin typeface="Calibri"/>
                <a:cs typeface="Calibri"/>
              </a:rPr>
              <a:t>sentinel-</a:t>
            </a:r>
            <a:r>
              <a:rPr sz="2800" i="1" spc="-10" dirty="0">
                <a:latin typeface="Calibri"/>
                <a:cs typeface="Calibri"/>
              </a:rPr>
              <a:t>controlled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loop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Calibri"/>
                <a:cs typeface="Calibri"/>
              </a:rPr>
              <a:t>Run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255" y="4402835"/>
            <a:ext cx="5879592" cy="225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8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For</a:t>
            </a:r>
            <a:r>
              <a:rPr spc="-18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679346"/>
            <a:ext cx="7374255" cy="32772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has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concise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35" dirty="0">
                <a:latin typeface="Calibri"/>
                <a:cs typeface="Calibri"/>
              </a:rPr>
              <a:t>syntax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for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writing</a:t>
            </a:r>
            <a:r>
              <a:rPr sz="2800" i="1" spc="2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loops.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simplify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above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loop: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initialValue;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endValue;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i++)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Loop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body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Calibri"/>
                <a:cs typeface="Calibri"/>
              </a:rPr>
              <a:t>...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flowchart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Figure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467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Flow</a:t>
            </a:r>
            <a:r>
              <a:rPr spc="-85" dirty="0"/>
              <a:t> </a:t>
            </a:r>
            <a:r>
              <a:rPr dirty="0"/>
              <a:t>chart</a:t>
            </a:r>
            <a:r>
              <a:rPr spc="-95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639" y="1886457"/>
            <a:ext cx="18034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083" y="1840992"/>
            <a:ext cx="3401567" cy="32019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7715" y="2039111"/>
            <a:ext cx="3634740" cy="30068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74826" y="5303646"/>
            <a:ext cx="9461500" cy="84264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algn="just">
              <a:lnSpc>
                <a:spcPts val="2140"/>
              </a:lnSpc>
              <a:spcBef>
                <a:spcPts val="18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once,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repeatedly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executes 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statements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loop </a:t>
            </a:r>
            <a:r>
              <a:rPr sz="1800" spc="-40" dirty="0">
                <a:latin typeface="Arial MT"/>
                <a:cs typeface="Arial MT"/>
              </a:rPr>
              <a:t>body,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performs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action after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iteration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loop-</a:t>
            </a:r>
            <a:r>
              <a:rPr sz="1600" spc="-20" dirty="0">
                <a:latin typeface="Arial MT"/>
                <a:cs typeface="Arial MT"/>
              </a:rPr>
              <a:t>continuation-</a:t>
            </a:r>
            <a:r>
              <a:rPr sz="1600" dirty="0">
                <a:latin typeface="Arial MT"/>
                <a:cs typeface="Arial MT"/>
              </a:rPr>
              <a:t>condition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evaluates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600" spc="-10" dirty="0">
                <a:latin typeface="Arial MT"/>
                <a:cs typeface="Arial MT"/>
              </a:rPr>
              <a:t>true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0525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For</a:t>
            </a:r>
            <a:r>
              <a:rPr spc="-17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18" y="2320874"/>
            <a:ext cx="10347960" cy="42843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5080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  <a:tab pos="918844" algn="l"/>
                <a:tab pos="1702435" algn="l"/>
                <a:tab pos="2867025" algn="l"/>
                <a:tab pos="4153535" algn="l"/>
                <a:tab pos="4801235" algn="l"/>
                <a:tab pos="5307330" algn="l"/>
                <a:tab pos="6696075" algn="l"/>
                <a:tab pos="7381875" algn="l"/>
                <a:tab pos="8900160" algn="l"/>
                <a:tab pos="9309735" algn="l"/>
                <a:tab pos="993330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loop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control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variable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declared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initialized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65" dirty="0">
                <a:latin typeface="Calibri"/>
                <a:cs typeface="Calibri"/>
              </a:rPr>
              <a:t>for 	</a:t>
            </a:r>
            <a:r>
              <a:rPr sz="2800" dirty="0">
                <a:latin typeface="Calibri"/>
                <a:cs typeface="Calibri"/>
              </a:rPr>
              <a:t>loop.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example:</a:t>
            </a:r>
            <a:endParaRPr sz="2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20"/>
              </a:spcBef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100;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i++)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cout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"Welcome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C++!\n";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 dirty="0">
              <a:latin typeface="Calibri"/>
              <a:cs typeface="Calibri"/>
            </a:endParaRPr>
          </a:p>
          <a:p>
            <a:pPr marL="240029" marR="174625" indent="-227329">
              <a:lnSpc>
                <a:spcPts val="3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statement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0" dirty="0">
                <a:latin typeface="Calibri"/>
                <a:cs typeface="Calibri"/>
              </a:rPr>
              <a:t>body,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example,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20" dirty="0">
                <a:latin typeface="Calibri"/>
                <a:cs typeface="Calibri"/>
              </a:rPr>
              <a:t>braces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omitted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below:</a:t>
            </a:r>
            <a:endParaRPr sz="2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100;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i++)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cout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"Welcome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C++!\n";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800" spc="-10" dirty="0">
                <a:latin typeface="Calibri"/>
                <a:cs typeface="Calibri"/>
              </a:rPr>
              <a:t>Question: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control?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535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spc="-30" dirty="0"/>
              <a:t>do-</a:t>
            </a:r>
            <a:r>
              <a:rPr dirty="0"/>
              <a:t>while</a:t>
            </a:r>
            <a:r>
              <a:rPr spc="-10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70" y="2451502"/>
            <a:ext cx="10360660" cy="36068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163195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do-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is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same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as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spc="-60" dirty="0">
                <a:latin typeface="Calibri"/>
                <a:cs typeface="Calibri"/>
              </a:rPr>
              <a:t>except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that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it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spc="-45" dirty="0">
                <a:latin typeface="Calibri"/>
                <a:cs typeface="Calibri"/>
              </a:rPr>
              <a:t>executes </a:t>
            </a:r>
            <a:r>
              <a:rPr sz="2800" i="1" spc="-25" dirty="0">
                <a:latin typeface="Calibri"/>
                <a:cs typeface="Calibri"/>
              </a:rPr>
              <a:t>the 	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body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first</a:t>
            </a:r>
            <a:r>
              <a:rPr sz="2800" i="1" spc="-114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and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then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checks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continuation</a:t>
            </a:r>
            <a:r>
              <a:rPr sz="2800" i="1" spc="2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condition.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925194" algn="l"/>
                <a:tab pos="2334895" algn="l"/>
                <a:tab pos="3124835" algn="l"/>
                <a:tab pos="3495040" algn="l"/>
                <a:tab pos="3813175" algn="l"/>
                <a:tab pos="5231130" algn="l"/>
                <a:tab pos="5674360" algn="l"/>
                <a:tab pos="6305550" algn="l"/>
                <a:tab pos="7232650" algn="l"/>
                <a:tab pos="8111490" algn="l"/>
                <a:tab pos="8606790" algn="l"/>
                <a:tab pos="9671050" algn="l"/>
                <a:tab pos="1003808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do-</a:t>
            </a:r>
            <a:r>
              <a:rPr sz="2800" spc="-20" dirty="0">
                <a:latin typeface="Calibri"/>
                <a:cs typeface="Calibri"/>
              </a:rPr>
              <a:t>while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loop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6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variation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while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loop.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syntax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330"/>
              </a:spcBef>
            </a:pPr>
            <a:r>
              <a:rPr sz="1800" spc="-25" dirty="0">
                <a:latin typeface="Calibri"/>
                <a:cs typeface="Calibri"/>
              </a:rPr>
              <a:t>do</a:t>
            </a:r>
            <a:endParaRPr sz="18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30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1384300" marR="7711440">
              <a:lnSpc>
                <a:spcPct val="1139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Loop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body; </a:t>
            </a:r>
            <a:r>
              <a:rPr sz="1800" spc="-10" dirty="0">
                <a:latin typeface="Calibri"/>
                <a:cs typeface="Calibri"/>
              </a:rPr>
              <a:t>Statement(s);</a:t>
            </a:r>
            <a:endParaRPr sz="18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30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Calibri"/>
                <a:cs typeface="Calibri"/>
              </a:rPr>
              <a:t>while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(loop-continuation-</a:t>
            </a:r>
            <a:r>
              <a:rPr sz="1800" spc="-10" dirty="0">
                <a:latin typeface="Calibri"/>
                <a:cs typeface="Calibri"/>
              </a:rPr>
              <a:t>condition);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6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</a:t>
            </a:r>
            <a:r>
              <a:rPr spc="-95" dirty="0"/>
              <a:t> </a:t>
            </a:r>
            <a:r>
              <a:rPr dirty="0"/>
              <a:t>while</a:t>
            </a:r>
            <a:r>
              <a:rPr spc="-12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70125"/>
            <a:ext cx="1789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Chart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464" y="2090926"/>
            <a:ext cx="2673096" cy="3003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1192" y="5439954"/>
            <a:ext cx="898461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do-</a:t>
            </a:r>
            <a:r>
              <a:rPr sz="1600" dirty="0">
                <a:latin typeface="Arial MT"/>
                <a:cs typeface="Arial MT"/>
              </a:rPr>
              <a:t>while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body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first, then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loop-</a:t>
            </a:r>
            <a:r>
              <a:rPr sz="1600" spc="-20" dirty="0">
                <a:latin typeface="Arial MT"/>
                <a:cs typeface="Arial MT"/>
              </a:rPr>
              <a:t>continuation-</a:t>
            </a:r>
            <a:r>
              <a:rPr sz="1600" spc="-10" dirty="0">
                <a:latin typeface="Arial MT"/>
                <a:cs typeface="Arial MT"/>
              </a:rPr>
              <a:t>condition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determine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whether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terminate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loop.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6637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</a:t>
            </a:r>
            <a:r>
              <a:rPr spc="-95" dirty="0"/>
              <a:t> </a:t>
            </a:r>
            <a:r>
              <a:rPr dirty="0"/>
              <a:t>while</a:t>
            </a:r>
            <a:r>
              <a:rPr spc="-12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70125"/>
            <a:ext cx="10048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Run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program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differentiate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loop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6732" y="2694432"/>
            <a:ext cx="642823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8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Important:</a:t>
            </a:r>
            <a:r>
              <a:rPr spc="-110" dirty="0"/>
              <a:t> </a:t>
            </a:r>
            <a:r>
              <a:rPr dirty="0"/>
              <a:t>Which</a:t>
            </a:r>
            <a:r>
              <a:rPr spc="-55" dirty="0"/>
              <a:t> </a:t>
            </a:r>
            <a:r>
              <a:rPr dirty="0"/>
              <a:t>Loop</a:t>
            </a:r>
            <a:r>
              <a:rPr spc="-5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20" dirty="0"/>
              <a:t>Use?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860" y="2660508"/>
            <a:ext cx="10368280" cy="29933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316865" indent="-227329" algn="just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spc="-110" dirty="0">
                <a:latin typeface="Calibri"/>
                <a:cs typeface="Calibri"/>
              </a:rPr>
              <a:t>You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can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use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loop,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loop,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 </a:t>
            </a:r>
            <a:r>
              <a:rPr sz="2800" spc="-25" dirty="0">
                <a:latin typeface="Calibri"/>
                <a:cs typeface="Calibri"/>
              </a:rPr>
              <a:t>do-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loop,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whichever </a:t>
            </a:r>
            <a:r>
              <a:rPr sz="2800" i="1" spc="-25" dirty="0">
                <a:latin typeface="Calibri"/>
                <a:cs typeface="Calibri"/>
              </a:rPr>
              <a:t>is 	</a:t>
            </a:r>
            <a:r>
              <a:rPr sz="2800" i="1" spc="-10" dirty="0">
                <a:latin typeface="Calibri"/>
                <a:cs typeface="Calibri"/>
              </a:rPr>
              <a:t>convenient.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893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general,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repetitions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advance,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as,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34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display 	</a:t>
            </a:r>
            <a:r>
              <a:rPr sz="2800" dirty="0">
                <a:latin typeface="Calibri"/>
                <a:cs typeface="Calibri"/>
              </a:rPr>
              <a:t>message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times.</a:t>
            </a:r>
            <a:endParaRPr sz="2800" dirty="0">
              <a:latin typeface="Calibri"/>
              <a:cs typeface="Calibri"/>
            </a:endParaRPr>
          </a:p>
          <a:p>
            <a:pPr marL="240029" marR="192405" indent="-227329" algn="just">
              <a:lnSpc>
                <a:spcPts val="3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repetitions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fixed,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numbers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until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3607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2: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1192" y="3033801"/>
            <a:ext cx="11029615" cy="197169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410845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50" dirty="0"/>
              <a:t>Write</a:t>
            </a:r>
            <a:r>
              <a:rPr sz="3200" spc="-110" dirty="0"/>
              <a:t> </a:t>
            </a:r>
            <a:r>
              <a:rPr sz="3200" dirty="0"/>
              <a:t>a</a:t>
            </a:r>
            <a:r>
              <a:rPr sz="3200" spc="-100" dirty="0"/>
              <a:t> </a:t>
            </a:r>
            <a:r>
              <a:rPr sz="3200" dirty="0"/>
              <a:t>c++</a:t>
            </a:r>
            <a:r>
              <a:rPr sz="3200" spc="-25" dirty="0"/>
              <a:t> </a:t>
            </a:r>
            <a:r>
              <a:rPr sz="3200" dirty="0"/>
              <a:t>code</a:t>
            </a:r>
            <a:r>
              <a:rPr sz="3200" spc="-80" dirty="0"/>
              <a:t> </a:t>
            </a:r>
            <a:r>
              <a:rPr sz="3200" dirty="0"/>
              <a:t>using</a:t>
            </a:r>
            <a:r>
              <a:rPr sz="3200" spc="-45" dirty="0"/>
              <a:t> </a:t>
            </a:r>
            <a:r>
              <a:rPr sz="3200" spc="-10" dirty="0"/>
              <a:t>for</a:t>
            </a:r>
            <a:r>
              <a:rPr sz="3200" spc="-110" dirty="0"/>
              <a:t> </a:t>
            </a:r>
            <a:r>
              <a:rPr sz="3200" dirty="0"/>
              <a:t>loop</a:t>
            </a:r>
            <a:r>
              <a:rPr sz="3200" spc="-65" dirty="0"/>
              <a:t> </a:t>
            </a:r>
            <a:r>
              <a:rPr sz="3200" dirty="0"/>
              <a:t>which</a:t>
            </a:r>
            <a:r>
              <a:rPr sz="3200" spc="-90" dirty="0"/>
              <a:t> </a:t>
            </a:r>
            <a:r>
              <a:rPr sz="3200" dirty="0"/>
              <a:t>print</a:t>
            </a:r>
            <a:r>
              <a:rPr sz="3200" spc="-70" dirty="0"/>
              <a:t> </a:t>
            </a:r>
            <a:r>
              <a:rPr sz="3200" dirty="0"/>
              <a:t>values</a:t>
            </a:r>
            <a:r>
              <a:rPr sz="3200" spc="-75" dirty="0"/>
              <a:t> </a:t>
            </a:r>
            <a:r>
              <a:rPr sz="3200" spc="-10" dirty="0"/>
              <a:t>from</a:t>
            </a:r>
            <a:r>
              <a:rPr sz="3200" spc="-75" dirty="0"/>
              <a:t> </a:t>
            </a:r>
            <a:r>
              <a:rPr sz="3200" dirty="0"/>
              <a:t>1</a:t>
            </a:r>
            <a:r>
              <a:rPr sz="3200" spc="-60" dirty="0"/>
              <a:t> </a:t>
            </a:r>
            <a:r>
              <a:rPr sz="3200" dirty="0"/>
              <a:t>to</a:t>
            </a:r>
            <a:r>
              <a:rPr sz="3200" spc="-105" dirty="0"/>
              <a:t> </a:t>
            </a:r>
            <a:r>
              <a:rPr sz="3200" dirty="0"/>
              <a:t>5</a:t>
            </a:r>
            <a:r>
              <a:rPr sz="3200" spc="-60" dirty="0"/>
              <a:t> </a:t>
            </a:r>
            <a:r>
              <a:rPr sz="3200" spc="-10" dirty="0"/>
              <a:t>using </a:t>
            </a:r>
            <a:r>
              <a:rPr lang="en-US" sz="3200" dirty="0" smtClean="0"/>
              <a:t>for</a:t>
            </a:r>
            <a:r>
              <a:rPr sz="3200" spc="-30" dirty="0" smtClean="0"/>
              <a:t> </a:t>
            </a:r>
            <a:r>
              <a:rPr sz="3200" spc="-20" dirty="0"/>
              <a:t>loop</a:t>
            </a:r>
          </a:p>
          <a:p>
            <a:pPr marL="240029" indent="-227329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spc="-50" dirty="0"/>
              <a:t>Write</a:t>
            </a:r>
            <a:r>
              <a:rPr sz="3200" spc="-110" dirty="0"/>
              <a:t> </a:t>
            </a:r>
            <a:r>
              <a:rPr sz="3200" dirty="0"/>
              <a:t>a</a:t>
            </a:r>
            <a:r>
              <a:rPr sz="3200" spc="-95" dirty="0"/>
              <a:t> </a:t>
            </a:r>
            <a:r>
              <a:rPr sz="3200" dirty="0"/>
              <a:t>c++</a:t>
            </a:r>
            <a:r>
              <a:rPr sz="3200" spc="-20" dirty="0"/>
              <a:t> </a:t>
            </a:r>
            <a:r>
              <a:rPr sz="3200" dirty="0"/>
              <a:t>code</a:t>
            </a:r>
            <a:r>
              <a:rPr sz="3200" spc="-75" dirty="0"/>
              <a:t> </a:t>
            </a:r>
            <a:r>
              <a:rPr sz="3200" dirty="0"/>
              <a:t>using</a:t>
            </a:r>
            <a:r>
              <a:rPr sz="3200" spc="-45" dirty="0"/>
              <a:t> </a:t>
            </a:r>
            <a:r>
              <a:rPr sz="3200" spc="-20" dirty="0"/>
              <a:t>for</a:t>
            </a:r>
            <a:r>
              <a:rPr sz="3200" spc="-105" dirty="0"/>
              <a:t> </a:t>
            </a:r>
            <a:r>
              <a:rPr sz="3200" dirty="0"/>
              <a:t>loop</a:t>
            </a:r>
            <a:r>
              <a:rPr sz="3200" spc="-65" dirty="0"/>
              <a:t> </a:t>
            </a:r>
            <a:r>
              <a:rPr sz="3200" dirty="0"/>
              <a:t>which</a:t>
            </a:r>
            <a:r>
              <a:rPr sz="3200" spc="-80" dirty="0"/>
              <a:t> </a:t>
            </a:r>
            <a:r>
              <a:rPr sz="3200" spc="-10" dirty="0"/>
              <a:t>print</a:t>
            </a:r>
            <a:r>
              <a:rPr sz="3200" spc="-70" dirty="0"/>
              <a:t> </a:t>
            </a:r>
            <a:r>
              <a:rPr sz="3200" dirty="0"/>
              <a:t>table</a:t>
            </a:r>
            <a:r>
              <a:rPr sz="3200" spc="-55" dirty="0"/>
              <a:t> </a:t>
            </a:r>
            <a:r>
              <a:rPr sz="3200" dirty="0"/>
              <a:t>of</a:t>
            </a:r>
            <a:r>
              <a:rPr sz="3200" spc="-85" dirty="0"/>
              <a:t> </a:t>
            </a:r>
            <a:r>
              <a:rPr sz="3200" dirty="0"/>
              <a:t>2</a:t>
            </a:r>
            <a:r>
              <a:rPr sz="3200" spc="-60" dirty="0"/>
              <a:t> </a:t>
            </a:r>
            <a:r>
              <a:rPr sz="3200" dirty="0"/>
              <a:t>using</a:t>
            </a:r>
            <a:r>
              <a:rPr sz="3200" spc="-40" dirty="0"/>
              <a:t> </a:t>
            </a:r>
            <a:r>
              <a:rPr lang="en-US" sz="3200" dirty="0" smtClean="0"/>
              <a:t>for</a:t>
            </a:r>
            <a:r>
              <a:rPr sz="3200" spc="145" dirty="0" smtClean="0"/>
              <a:t> </a:t>
            </a:r>
            <a:r>
              <a:rPr sz="3200" spc="-20" dirty="0" smtClean="0"/>
              <a:t>loop</a:t>
            </a:r>
            <a:endParaRPr sz="3200" spc="-20" dirty="0"/>
          </a:p>
        </p:txBody>
      </p:sp>
    </p:spTree>
    <p:extLst>
      <p:ext uri="{BB962C8B-B14F-4D97-AF65-F5344CB8AC3E}">
        <p14:creationId xmlns:p14="http://schemas.microsoft.com/office/powerpoint/2010/main" val="3244478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2: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5710" y="2499110"/>
            <a:ext cx="9898448" cy="310379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0" indent="0">
              <a:buNone/>
            </a:pPr>
            <a:r>
              <a:rPr lang="en-US" sz="1200" b="1" dirty="0"/>
              <a:t>1. Print values from 1 to 5 using for loop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  <a:br>
              <a:rPr lang="en-US" sz="1200" dirty="0"/>
            </a:b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main()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for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1; </a:t>
            </a:r>
            <a:r>
              <a:rPr lang="en-US" sz="1200" dirty="0" err="1"/>
              <a:t>i</a:t>
            </a:r>
            <a:r>
              <a:rPr lang="en-US" sz="1200" dirty="0"/>
              <a:t> &lt;= 5; </a:t>
            </a:r>
            <a:r>
              <a:rPr lang="en-US" sz="1200" dirty="0" err="1"/>
              <a:t>i</a:t>
            </a:r>
            <a:r>
              <a:rPr lang="en-US" sz="1200" dirty="0"/>
              <a:t>++)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cout</a:t>
            </a:r>
            <a:r>
              <a:rPr lang="en-US" sz="1200" dirty="0"/>
              <a:t> &lt;&lt; </a:t>
            </a:r>
            <a:r>
              <a:rPr lang="en-US" sz="1200" dirty="0" err="1"/>
              <a:t>i</a:t>
            </a:r>
            <a:r>
              <a:rPr lang="en-US" sz="1200" dirty="0"/>
              <a:t> &lt;&lt; " ";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return 0;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pPr marL="12700" marR="410845" indent="0">
              <a:lnSpc>
                <a:spcPts val="3000"/>
              </a:lnSpc>
              <a:spcBef>
                <a:spcPts val="495"/>
              </a:spcBef>
              <a:buNone/>
              <a:tabLst>
                <a:tab pos="241300" algn="l"/>
              </a:tabLst>
            </a:pPr>
            <a:endParaRPr sz="3200" spc="-20" dirty="0"/>
          </a:p>
        </p:txBody>
      </p:sp>
    </p:spTree>
    <p:extLst>
      <p:ext uri="{BB962C8B-B14F-4D97-AF65-F5344CB8AC3E}">
        <p14:creationId xmlns:p14="http://schemas.microsoft.com/office/powerpoint/2010/main" val="181461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2: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5710" y="2257505"/>
            <a:ext cx="9898448" cy="358700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0" indent="0">
              <a:buNone/>
            </a:pPr>
            <a:r>
              <a:rPr lang="en-US" sz="1200" b="1" dirty="0"/>
              <a:t>2. Print Table of 2 using for loop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  <a:br>
              <a:rPr lang="en-US" sz="1200" dirty="0"/>
            </a:b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main()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for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1; </a:t>
            </a:r>
            <a:r>
              <a:rPr lang="en-US" sz="1200" dirty="0" err="1"/>
              <a:t>i</a:t>
            </a:r>
            <a:r>
              <a:rPr lang="en-US" sz="1200" dirty="0"/>
              <a:t> &lt;= 10; </a:t>
            </a:r>
            <a:r>
              <a:rPr lang="en-US" sz="1200" dirty="0" err="1"/>
              <a:t>i</a:t>
            </a:r>
            <a:r>
              <a:rPr lang="en-US" sz="1200" dirty="0"/>
              <a:t>++)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cout</a:t>
            </a:r>
            <a:r>
              <a:rPr lang="en-US" sz="1200" dirty="0"/>
              <a:t> &lt;&lt; "2 x " &lt;&lt; </a:t>
            </a:r>
            <a:r>
              <a:rPr lang="en-US" sz="1200" dirty="0" err="1"/>
              <a:t>i</a:t>
            </a:r>
            <a:r>
              <a:rPr lang="en-US" sz="1200" dirty="0"/>
              <a:t> &lt;&lt; " = " &lt;&lt; 2 * </a:t>
            </a:r>
            <a:r>
              <a:rPr lang="en-US" sz="1200" dirty="0" err="1"/>
              <a:t>i</a:t>
            </a:r>
            <a:r>
              <a:rPr lang="en-US" sz="1200" dirty="0"/>
              <a:t>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return 0;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pPr marL="0" indent="0">
              <a:buNone/>
            </a:pPr>
            <a:r>
              <a:rPr lang="en-US" sz="1200" dirty="0" smtClean="0"/>
              <a:t>;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pPr marL="12700" marR="410845" indent="0">
              <a:lnSpc>
                <a:spcPts val="3000"/>
              </a:lnSpc>
              <a:spcBef>
                <a:spcPts val="495"/>
              </a:spcBef>
              <a:buNone/>
              <a:tabLst>
                <a:tab pos="241300" algn="l"/>
              </a:tabLst>
            </a:pPr>
            <a:endParaRPr sz="3200" spc="-20" dirty="0"/>
          </a:p>
        </p:txBody>
      </p:sp>
    </p:spTree>
    <p:extLst>
      <p:ext uri="{BB962C8B-B14F-4D97-AF65-F5344CB8AC3E}">
        <p14:creationId xmlns:p14="http://schemas.microsoft.com/office/powerpoint/2010/main" val="118736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1: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8215" y="2569068"/>
            <a:ext cx="10275570" cy="1730602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5080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Write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c++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 	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loop</a:t>
            </a:r>
            <a:endParaRPr sz="2800" dirty="0">
              <a:latin typeface="Calibri"/>
              <a:cs typeface="Calibri"/>
            </a:endParaRPr>
          </a:p>
          <a:p>
            <a:pPr marL="240029" marR="353060" indent="-227329">
              <a:lnSpc>
                <a:spcPts val="3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Write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c++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loop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while 	</a:t>
            </a:r>
            <a:r>
              <a:rPr sz="2800" spc="-20" dirty="0" smtClean="0">
                <a:latin typeface="Calibri"/>
                <a:cs typeface="Calibri"/>
              </a:rPr>
              <a:t>loop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6674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2: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5710" y="2221278"/>
            <a:ext cx="9898448" cy="3659463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0" indent="0">
              <a:buNone/>
            </a:pPr>
            <a:r>
              <a:rPr lang="en-US" sz="1200" b="1" dirty="0"/>
              <a:t>1. Print values from 1 to 5 (using while loop)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  <a:br>
              <a:rPr lang="en-US" sz="1200" dirty="0"/>
            </a:b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main()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1;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while (</a:t>
            </a:r>
            <a:r>
              <a:rPr lang="en-US" sz="1200" dirty="0" err="1"/>
              <a:t>i</a:t>
            </a:r>
            <a:r>
              <a:rPr lang="en-US" sz="1200" dirty="0"/>
              <a:t> &lt;= 5)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cout</a:t>
            </a:r>
            <a:r>
              <a:rPr lang="en-US" sz="1200" dirty="0"/>
              <a:t> &lt;&lt; </a:t>
            </a:r>
            <a:r>
              <a:rPr lang="en-US" sz="1200" dirty="0" err="1"/>
              <a:t>i</a:t>
            </a:r>
            <a:r>
              <a:rPr lang="en-US" sz="1200" dirty="0"/>
              <a:t> &lt;&lt; " ";</a:t>
            </a:r>
            <a:br>
              <a:rPr lang="en-US" sz="1200" dirty="0"/>
            </a:br>
            <a:r>
              <a:rPr lang="en-US" sz="1200" dirty="0" err="1"/>
              <a:t>i</a:t>
            </a:r>
            <a:r>
              <a:rPr lang="en-US" sz="1200" dirty="0"/>
              <a:t>++;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return 0;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pPr marL="12700" marR="410845" indent="0">
              <a:lnSpc>
                <a:spcPts val="3000"/>
              </a:lnSpc>
              <a:spcBef>
                <a:spcPts val="495"/>
              </a:spcBef>
              <a:buNone/>
              <a:tabLst>
                <a:tab pos="241300" algn="l"/>
              </a:tabLst>
            </a:pPr>
            <a:endParaRPr sz="3200" spc="-20" dirty="0"/>
          </a:p>
        </p:txBody>
      </p:sp>
    </p:spTree>
    <p:extLst>
      <p:ext uri="{BB962C8B-B14F-4D97-AF65-F5344CB8AC3E}">
        <p14:creationId xmlns:p14="http://schemas.microsoft.com/office/powerpoint/2010/main" val="1436149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Task</a:t>
            </a:r>
            <a:r>
              <a:rPr spc="-160" dirty="0"/>
              <a:t> </a:t>
            </a:r>
            <a:r>
              <a:rPr spc="-25" dirty="0"/>
              <a:t>2: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5710" y="2222111"/>
            <a:ext cx="9898448" cy="3657796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0" indent="0">
              <a:buNone/>
            </a:pPr>
            <a:r>
              <a:rPr lang="en-US" sz="1200" b="1" dirty="0"/>
              <a:t>2. Print Table of 2 (using while loop)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  <a:br>
              <a:rPr lang="en-US" sz="1200" dirty="0"/>
            </a:b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main()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1;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while (</a:t>
            </a:r>
            <a:r>
              <a:rPr lang="en-US" sz="1200" dirty="0" err="1"/>
              <a:t>i</a:t>
            </a:r>
            <a:r>
              <a:rPr lang="en-US" sz="1200" dirty="0"/>
              <a:t> &lt;= 10)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 err="1"/>
              <a:t>cout</a:t>
            </a:r>
            <a:r>
              <a:rPr lang="en-US" sz="1200" dirty="0"/>
              <a:t> &lt;&lt; "2 x " &lt;&lt; </a:t>
            </a:r>
            <a:r>
              <a:rPr lang="en-US" sz="1200" dirty="0" err="1"/>
              <a:t>i</a:t>
            </a:r>
            <a:r>
              <a:rPr lang="en-US" sz="1200" dirty="0"/>
              <a:t> &lt;&lt; " = " &lt;&lt; 2 * </a:t>
            </a:r>
            <a:r>
              <a:rPr lang="en-US" sz="1200" dirty="0" err="1"/>
              <a:t>i</a:t>
            </a:r>
            <a:r>
              <a:rPr lang="en-US" sz="1200" dirty="0"/>
              <a:t>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 err="1"/>
              <a:t>i</a:t>
            </a:r>
            <a:r>
              <a:rPr lang="en-US" sz="1200" dirty="0"/>
              <a:t>++;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return 0;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pPr marL="12700" marR="410845" indent="0">
              <a:lnSpc>
                <a:spcPts val="3000"/>
              </a:lnSpc>
              <a:spcBef>
                <a:spcPts val="495"/>
              </a:spcBef>
              <a:buNone/>
              <a:tabLst>
                <a:tab pos="241300" algn="l"/>
              </a:tabLst>
            </a:pPr>
            <a:endParaRPr sz="3200" spc="-20" dirty="0"/>
          </a:p>
        </p:txBody>
      </p:sp>
    </p:spTree>
    <p:extLst>
      <p:ext uri="{BB962C8B-B14F-4D97-AF65-F5344CB8AC3E}">
        <p14:creationId xmlns:p14="http://schemas.microsoft.com/office/powerpoint/2010/main" val="3752274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502" y="3395852"/>
            <a:ext cx="4072890" cy="1016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0" dirty="0">
                <a:latin typeface="Calibri"/>
                <a:cs typeface="Calibri"/>
              </a:rPr>
              <a:t>Nested</a:t>
            </a:r>
            <a:r>
              <a:rPr sz="6500" spc="-195" dirty="0">
                <a:latin typeface="Calibri"/>
                <a:cs typeface="Calibri"/>
              </a:rPr>
              <a:t> </a:t>
            </a:r>
            <a:r>
              <a:rPr sz="6500" spc="-20" dirty="0">
                <a:latin typeface="Calibri"/>
                <a:cs typeface="Calibri"/>
              </a:rPr>
              <a:t>loop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Next</a:t>
            </a:r>
            <a:r>
              <a:rPr sz="6000" b="1" spc="-22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Lecture</a:t>
            </a:r>
            <a:endParaRPr sz="6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761919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3709</TotalTime>
  <Words>523</Words>
  <Application>Microsoft Office PowerPoint</Application>
  <PresentationFormat>Custom</PresentationFormat>
  <Paragraphs>86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Dividend</vt:lpstr>
      <vt:lpstr>LOOPS</vt:lpstr>
      <vt:lpstr>Lecture Outline</vt:lpstr>
      <vt:lpstr>Loop</vt:lpstr>
      <vt:lpstr>While Loop</vt:lpstr>
      <vt:lpstr>While Loop</vt:lpstr>
      <vt:lpstr>Flow Chart for while Loop</vt:lpstr>
      <vt:lpstr>While loop</vt:lpstr>
      <vt:lpstr>Identify the problem?</vt:lpstr>
      <vt:lpstr>Controlling a Loop with a Sentinel Value</vt:lpstr>
      <vt:lpstr>For loop</vt:lpstr>
      <vt:lpstr>Flow chart for loop</vt:lpstr>
      <vt:lpstr>For Loop</vt:lpstr>
      <vt:lpstr>The do-while Loop</vt:lpstr>
      <vt:lpstr>Do while loop</vt:lpstr>
      <vt:lpstr>Do while loop</vt:lpstr>
      <vt:lpstr>Important: Which Loop to Use?</vt:lpstr>
      <vt:lpstr>Task 2:</vt:lpstr>
      <vt:lpstr>Task 2:</vt:lpstr>
      <vt:lpstr>Task 2:</vt:lpstr>
      <vt:lpstr>Task 1:</vt:lpstr>
      <vt:lpstr>Task 2:</vt:lpstr>
      <vt:lpstr>Task 2: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HP</dc:creator>
  <cp:lastModifiedBy>Administrator</cp:lastModifiedBy>
  <cp:revision>7</cp:revision>
  <dcterms:created xsi:type="dcterms:W3CDTF">2025-03-08T10:54:29Z</dcterms:created>
  <dcterms:modified xsi:type="dcterms:W3CDTF">2026-02-26T04:08:54Z</dcterms:modified>
</cp:coreProperties>
</file>